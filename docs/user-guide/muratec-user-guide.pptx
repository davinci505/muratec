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DD935-34F2-CC44-C271-A0680E2EB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0A38AB-4175-0EB7-7BCD-31CC64704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0A7B5D-9B16-5AE6-B816-A58A9656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360E1-A2B5-C65D-5BFC-D0BD4B74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08655-075B-A65B-599B-6AFFF4F3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88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C05EF-709B-A9A7-F320-E33548C0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1CB7C9-7765-289F-D2BB-E20EA6A71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B7E4F-4AC3-CEFC-ACF5-5508637F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8A16FF-34ED-3338-F318-B9035E4D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5CA972-C6C1-FFE7-991B-665F16BC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2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F5588-B4E1-628F-ABDB-21EBE4B5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F4A034-9237-F632-76DB-DBCB1CCCF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274FF9-6E25-6710-D013-BCFB4B51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3E4CF-5394-F125-AA36-DDBDE48F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09C4BB-5057-A086-EA87-76C3F028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61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281AC-CC8C-15A3-F418-51529F28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154A0F-078C-4EE7-31BA-1C6FF4984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0E15FC-8BCE-787C-8442-933EF283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C22596-856C-F495-4231-20E5D990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EB414B-C8D3-99C8-D569-EEE09517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024F2C-0144-7978-6FB5-18998DEC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01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CEC9B-DDE7-BD73-E8B6-7AEC96676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2B22B-77FF-10B4-DCE4-36A390BC3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BC9880-0291-9E83-0ED0-BA9FA047A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7F496C-D9A5-5388-7FAC-47C471FB4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E47064-9F31-E376-122D-E28C7F5AE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DB5E07-F6AC-E8EF-0F01-E02EE745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37007E-16D4-A7BA-0AA8-5F94DAEC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BB1CAC-8319-13E0-8474-E7E6B844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15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20819-98F5-2C43-21FD-BDBCFAED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164841-4EA9-593D-985C-382CFCF7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326374-6127-ED5B-C201-C20C4E8C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DEF6DB-A997-4804-DB27-BBD47330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56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1CB986-7E68-F878-7CCD-61B7C966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7162B4-F84D-1374-9976-71534DB9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8B07AD-B777-99DD-B371-A5FEC408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61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58D8B-885C-2C7C-F8AC-A0D60485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666D51-09A5-F5B6-96B2-38D2A2CE9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592CDB-5D25-6C40-3D0E-1C3465274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35A77-6ECF-6145-2D27-D8886E51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69B44E-AE47-D909-C35E-DC75131C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C5BC1-9BC4-2AC0-DC04-59BFC3B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046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B0E88-9E86-8DEB-6FCF-D968D060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0ABD39-53C8-999B-B354-5CED8F976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FF1FFF-0A22-64E4-FB0F-4E125EB90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B1E5D3-9AFA-752F-199A-438DEEB7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4665CF-25BB-4220-5717-2F2BA4EC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042FCF-BF9A-106E-F601-C0F041D4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91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F7C2F-C7B3-E22F-9020-6F29C3EC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BDD6B9-B144-9A17-8B10-D6D4DD244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80F927-B236-DFC6-D1F4-5122B52B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2FBC-E01D-2074-599D-243C68A6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99A07F-43D2-CA50-9D71-6EEC1547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00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57D99D-CCE1-8FF5-02F4-98ACD7104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DE75B5-7120-3F45-2AD8-3BD3CDBE3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820AA6-CFD7-1BF1-47A3-B09EC24D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8D741-A06B-00CC-5C9A-263746D4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F56D59-1B88-EDB9-5B4A-78A740D1C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79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90B90B-014C-F9EC-E5AB-AE886D08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6A0EA8-CE61-B89A-6114-D8D0A492E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144864-07A9-D5F6-D251-A2DE0DEAD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549A3-AF71-4106-9DE8-60F50724FAFF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70BEC2-C0BA-9B01-F66C-D859C28B3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3164F5-ECE9-5235-F4FE-F3A956A7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C53B3-BF5D-4079-9CBA-7D89A759EA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01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davinci505.org:1004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50A5C-AF27-503B-4068-E2C898293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err="1">
                <a:latin typeface="Malgun Gothic" panose="020B0503020000020004" pitchFamily="50" charset="-127"/>
              </a:rPr>
              <a:t>BARATEC</a:t>
            </a:r>
            <a:r>
              <a:rPr lang="en-US" altLang="ko-KR" sz="2800" dirty="0">
                <a:latin typeface="Malgun Gothic" panose="020B0503020000020004" pitchFamily="50" charset="-127"/>
              </a:rPr>
              <a:t> User Screen Guide</a:t>
            </a:r>
            <a:br>
              <a:rPr lang="en-US" altLang="ko-KR" sz="2800" dirty="0">
                <a:latin typeface="Malgun Gothic" panose="020B0503020000020004" pitchFamily="50" charset="-127"/>
              </a:rPr>
            </a:br>
            <a:endParaRPr lang="ko-KR" altLang="en-US" sz="2800" dirty="0">
              <a:latin typeface="Malgun Gothic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26D146-98AC-BEA8-0533-79BB8E14A3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latin typeface="Malgun Gothic" panose="020B0503020000020004" pitchFamily="50" charset="-127"/>
              </a:rPr>
              <a:t>이 문서는 </a:t>
            </a:r>
            <a:r>
              <a:rPr lang="en-US" altLang="ko-KR" sz="2000" dirty="0">
                <a:latin typeface="Malgun Gothic" panose="020B0503020000020004" pitchFamily="50" charset="-127"/>
                <a:hlinkClick r:id="rId2"/>
              </a:rPr>
              <a:t>http://</a:t>
            </a:r>
            <a:r>
              <a:rPr lang="en-US" altLang="ko-KR" sz="2000" dirty="0" err="1">
                <a:latin typeface="Malgun Gothic" panose="020B0503020000020004" pitchFamily="50" charset="-127"/>
                <a:hlinkClick r:id="rId2"/>
              </a:rPr>
              <a:t>davinci505.org:1004</a:t>
            </a:r>
            <a:r>
              <a:rPr lang="en-US" altLang="ko-KR" sz="2000" dirty="0">
                <a:latin typeface="Malgun Gothic" panose="020B0503020000020004" pitchFamily="50" charset="-127"/>
                <a:hlinkClick r:id="rId2"/>
              </a:rPr>
              <a:t>/</a:t>
            </a:r>
            <a:r>
              <a:rPr lang="en-US" altLang="ko-KR" sz="2000" dirty="0">
                <a:latin typeface="Malgun Gothic" panose="020B0503020000020004" pitchFamily="50" charset="-127"/>
              </a:rPr>
              <a:t> </a:t>
            </a:r>
            <a:r>
              <a:rPr lang="ko-KR" altLang="en-US" sz="2000" dirty="0">
                <a:latin typeface="Malgun Gothic" panose="020B0503020000020004" pitchFamily="50" charset="-127"/>
              </a:rPr>
              <a:t>접속 후</a:t>
            </a:r>
            <a:r>
              <a:rPr lang="en-US" altLang="ko-KR" sz="2000" dirty="0">
                <a:latin typeface="Malgun Gothic" panose="020B0503020000020004" pitchFamily="50" charset="-127"/>
              </a:rPr>
              <a:t>,</a:t>
            </a:r>
          </a:p>
          <a:p>
            <a:r>
              <a:rPr lang="ko-KR" altLang="en-US" sz="2000" dirty="0">
                <a:latin typeface="Malgun Gothic" panose="020B0503020000020004" pitchFamily="50" charset="-127"/>
              </a:rPr>
              <a:t>사용하는 사용자를 위한 가이드 문서</a:t>
            </a:r>
            <a:r>
              <a:rPr lang="en-US" altLang="ko-KR" sz="2000" dirty="0">
                <a:latin typeface="Malgun Gothic" panose="020B0503020000020004" pitchFamily="50" charset="-127"/>
              </a:rPr>
              <a:t> </a:t>
            </a:r>
            <a:r>
              <a:rPr lang="ko-KR" altLang="en-US" sz="2000" dirty="0">
                <a:latin typeface="Malgun Gothic" panose="020B0503020000020004" pitchFamily="50" charset="-127"/>
              </a:rPr>
              <a:t>입니다</a:t>
            </a:r>
            <a:r>
              <a:rPr lang="en-US" altLang="ko-KR" sz="2000" dirty="0">
                <a:latin typeface="Malgun Gothic" panose="020B0503020000020004" pitchFamily="50" charset="-127"/>
              </a:rPr>
              <a:t>.</a:t>
            </a:r>
            <a:endParaRPr lang="ko-KR" altLang="en-US" sz="2000" dirty="0"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833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4C0D9A-1E57-ECBF-97E9-BD0253708512}"/>
              </a:ext>
            </a:extLst>
          </p:cNvPr>
          <p:cNvSpPr txBox="1"/>
          <p:nvPr/>
        </p:nvSpPr>
        <p:spPr>
          <a:xfrm>
            <a:off x="381000" y="254000"/>
            <a:ext cx="1143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600" b="1">
                <a:latin typeface="Malgun Gothic" panose="020B0503020000020004" pitchFamily="50" charset="-127"/>
              </a:rPr>
              <a:t>Home</a:t>
            </a:r>
            <a:endParaRPr lang="ko-KR" altLang="en-US" sz="2600" b="1"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A057E-D316-5FE5-24BD-3E7F7CBE5A16}"/>
              </a:ext>
            </a:extLst>
          </p:cNvPr>
          <p:cNvSpPr txBox="1"/>
          <p:nvPr/>
        </p:nvSpPr>
        <p:spPr>
          <a:xfrm>
            <a:off x="8636000" y="1270000"/>
            <a:ext cx="3048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ko-KR" altLang="en-US" dirty="0">
                <a:latin typeface="Malgun Gothic" panose="020B0503020000020004" pitchFamily="50" charset="-127"/>
              </a:rPr>
              <a:t>접속 시</a:t>
            </a:r>
            <a:r>
              <a:rPr lang="en-US" altLang="ko-KR" dirty="0">
                <a:latin typeface="Malgun Gothic" panose="020B0503020000020004" pitchFamily="50" charset="-127"/>
              </a:rPr>
              <a:t>, </a:t>
            </a:r>
            <a:r>
              <a:rPr lang="ko-KR" altLang="en-US" dirty="0">
                <a:latin typeface="Malgun Gothic" panose="020B0503020000020004" pitchFamily="50" charset="-127"/>
              </a:rPr>
              <a:t>처음 보게 되는 홈 화면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① </a:t>
            </a:r>
            <a:r>
              <a:rPr lang="ko-KR" altLang="en-US" dirty="0" err="1">
                <a:latin typeface="Malgun Gothic" panose="020B0503020000020004" pitchFamily="50" charset="-127"/>
              </a:rPr>
              <a:t>플로팅</a:t>
            </a:r>
            <a:r>
              <a:rPr lang="ko-KR" altLang="en-US" dirty="0">
                <a:latin typeface="Malgun Gothic" panose="020B0503020000020004" pitchFamily="50" charset="-127"/>
              </a:rPr>
              <a:t> 메뉴 버튼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② </a:t>
            </a:r>
            <a:r>
              <a:rPr lang="ko-KR" altLang="en-US" dirty="0" err="1">
                <a:latin typeface="Malgun Gothic" panose="020B0503020000020004" pitchFamily="50" charset="-127"/>
              </a:rPr>
              <a:t>뒤로가기</a:t>
            </a:r>
            <a:r>
              <a:rPr lang="ko-KR" altLang="en-US" dirty="0">
                <a:latin typeface="Malgun Gothic" panose="020B0503020000020004" pitchFamily="50" charset="-127"/>
              </a:rPr>
              <a:t> 버튼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③ </a:t>
            </a:r>
            <a:r>
              <a:rPr lang="ko-KR" altLang="en-US" dirty="0">
                <a:latin typeface="Malgun Gothic" panose="020B0503020000020004" pitchFamily="50" charset="-127"/>
              </a:rPr>
              <a:t>관리화면 바로가기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④ </a:t>
            </a:r>
            <a:r>
              <a:rPr lang="ko-KR" altLang="en-US" dirty="0" err="1">
                <a:latin typeface="Malgun Gothic" panose="020B0503020000020004" pitchFamily="50" charset="-127"/>
              </a:rPr>
              <a:t>홈화면</a:t>
            </a:r>
            <a:r>
              <a:rPr lang="ko-KR" altLang="en-US" dirty="0">
                <a:latin typeface="Malgun Gothic" panose="020B0503020000020004" pitchFamily="50" charset="-127"/>
              </a:rPr>
              <a:t> 바로가기</a:t>
            </a:r>
            <a:endParaRPr lang="en-US" altLang="ko-KR" dirty="0">
              <a:latin typeface="Malgun Gothic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8FDC72-1D57-1005-3AE2-143D63EB7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7" y="905163"/>
            <a:ext cx="8445953" cy="45904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620CA5-AAF1-4DFC-3A84-1931FFFD8AE5}"/>
              </a:ext>
            </a:extLst>
          </p:cNvPr>
          <p:cNvSpPr txBox="1"/>
          <p:nvPr/>
        </p:nvSpPr>
        <p:spPr>
          <a:xfrm>
            <a:off x="-34498" y="6763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①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5E23A30-16B9-C308-1184-95009ABB1AF3}"/>
              </a:ext>
            </a:extLst>
          </p:cNvPr>
          <p:cNvSpPr/>
          <p:nvPr/>
        </p:nvSpPr>
        <p:spPr>
          <a:xfrm>
            <a:off x="190047" y="905163"/>
            <a:ext cx="361286" cy="29927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A4C8C20-A293-AC1A-A5A1-1E45D0EC83F8}"/>
              </a:ext>
            </a:extLst>
          </p:cNvPr>
          <p:cNvSpPr/>
          <p:nvPr/>
        </p:nvSpPr>
        <p:spPr>
          <a:xfrm>
            <a:off x="8274714" y="905163"/>
            <a:ext cx="361286" cy="29927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3DED4C-48F9-DE14-EF87-27F30B5CD0A3}"/>
              </a:ext>
            </a:extLst>
          </p:cNvPr>
          <p:cNvSpPr txBox="1"/>
          <p:nvPr/>
        </p:nvSpPr>
        <p:spPr>
          <a:xfrm>
            <a:off x="7986750" y="68321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②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1AA4285-D19A-5B47-1B26-D422C69C359B}"/>
              </a:ext>
            </a:extLst>
          </p:cNvPr>
          <p:cNvSpPr/>
          <p:nvPr/>
        </p:nvSpPr>
        <p:spPr>
          <a:xfrm>
            <a:off x="190047" y="1459345"/>
            <a:ext cx="8445953" cy="146858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E3FC93-55FF-4C74-AA4E-09E9E7D84CF4}"/>
              </a:ext>
            </a:extLst>
          </p:cNvPr>
          <p:cNvSpPr txBox="1"/>
          <p:nvPr/>
        </p:nvSpPr>
        <p:spPr>
          <a:xfrm>
            <a:off x="1659835" y="11472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ED0D38-4FC6-9157-D92D-5E61F7E7100F}"/>
              </a:ext>
            </a:extLst>
          </p:cNvPr>
          <p:cNvSpPr txBox="1"/>
          <p:nvPr/>
        </p:nvSpPr>
        <p:spPr>
          <a:xfrm>
            <a:off x="1712404" y="5531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④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71E9601-7080-C766-CC4D-6BEC6F108494}"/>
              </a:ext>
            </a:extLst>
          </p:cNvPr>
          <p:cNvCxnSpPr>
            <a:stCxn id="19" idx="2"/>
          </p:cNvCxnSpPr>
          <p:nvPr/>
        </p:nvCxnSpPr>
        <p:spPr>
          <a:xfrm flipH="1">
            <a:off x="1674988" y="922465"/>
            <a:ext cx="245165" cy="1235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8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A43F1E-52D8-E2A3-D0FC-5E629534C5CF}"/>
              </a:ext>
            </a:extLst>
          </p:cNvPr>
          <p:cNvSpPr txBox="1"/>
          <p:nvPr/>
        </p:nvSpPr>
        <p:spPr>
          <a:xfrm>
            <a:off x="381000" y="254000"/>
            <a:ext cx="1143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600" b="1">
                <a:latin typeface="Malgun Gothic" panose="020B0503020000020004" pitchFamily="50" charset="-127"/>
              </a:rPr>
              <a:t>Job Requests List</a:t>
            </a:r>
            <a:endParaRPr lang="ko-KR" altLang="en-US" sz="2600" b="1">
              <a:latin typeface="Malgun Gothic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30C4A6-74D0-44A3-5A94-27B9320F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2" y="866965"/>
            <a:ext cx="8527188" cy="51828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4B63C5-4728-4166-7478-CBED41A69EDD}"/>
              </a:ext>
            </a:extLst>
          </p:cNvPr>
          <p:cNvSpPr txBox="1"/>
          <p:nvPr/>
        </p:nvSpPr>
        <p:spPr>
          <a:xfrm>
            <a:off x="8635999" y="1270000"/>
            <a:ext cx="3685309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ko-KR" altLang="en-US" dirty="0">
                <a:latin typeface="Malgun Gothic" panose="020B0503020000020004" pitchFamily="50" charset="-127"/>
              </a:rPr>
              <a:t>고객의뢰 관리 화면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① </a:t>
            </a:r>
            <a:r>
              <a:rPr lang="ko-KR" altLang="en-US" dirty="0">
                <a:latin typeface="Malgun Gothic" panose="020B0503020000020004" pitchFamily="50" charset="-127"/>
              </a:rPr>
              <a:t>신규 의뢰 추가 화면 이동 버튼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② </a:t>
            </a:r>
            <a:r>
              <a:rPr lang="ko-KR" altLang="en-US" dirty="0">
                <a:latin typeface="Malgun Gothic" panose="020B0503020000020004" pitchFamily="50" charset="-127"/>
              </a:rPr>
              <a:t>입력된 자료 수정</a:t>
            </a:r>
            <a:r>
              <a:rPr lang="en-US" altLang="ko-KR" dirty="0">
                <a:latin typeface="Malgun Gothic" panose="020B0503020000020004" pitchFamily="50" charset="-127"/>
              </a:rPr>
              <a:t>/</a:t>
            </a:r>
            <a:r>
              <a:rPr lang="ko-KR" altLang="en-US" dirty="0">
                <a:latin typeface="Malgun Gothic" panose="020B0503020000020004" pitchFamily="50" charset="-127"/>
              </a:rPr>
              <a:t>삭제 버튼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③ </a:t>
            </a:r>
            <a:r>
              <a:rPr lang="ko-KR" altLang="en-US" dirty="0">
                <a:latin typeface="Malgun Gothic" panose="020B0503020000020004" pitchFamily="50" charset="-127"/>
              </a:rPr>
              <a:t>자료 검색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④ </a:t>
            </a:r>
            <a:r>
              <a:rPr lang="ko-KR" altLang="en-US" dirty="0" err="1">
                <a:latin typeface="Malgun Gothic" panose="020B0503020000020004" pitchFamily="50" charset="-127"/>
              </a:rPr>
              <a:t>자료대량</a:t>
            </a:r>
            <a:r>
              <a:rPr lang="ko-KR" altLang="en-US" dirty="0">
                <a:latin typeface="Malgun Gothic" panose="020B0503020000020004" pitchFamily="50" charset="-127"/>
              </a:rPr>
              <a:t> 입력 화면 이동 버튼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⑤ </a:t>
            </a:r>
            <a:r>
              <a:rPr lang="ko-KR" altLang="en-US" dirty="0">
                <a:latin typeface="Malgun Gothic" panose="020B0503020000020004" pitchFamily="50" charset="-127"/>
              </a:rPr>
              <a:t>의뢰인을 누르면 의뢰인과 연관된 </a:t>
            </a:r>
            <a:r>
              <a:rPr lang="en-US" altLang="ko-KR" dirty="0">
                <a:latin typeface="Malgun Gothic" panose="020B0503020000020004" pitchFamily="50" charset="-127"/>
              </a:rPr>
              <a:t>CCS </a:t>
            </a:r>
            <a:r>
              <a:rPr lang="ko-KR" altLang="en-US" dirty="0">
                <a:latin typeface="Malgun Gothic" panose="020B0503020000020004" pitchFamily="50" charset="-127"/>
              </a:rPr>
              <a:t>견적 관리화면으로 이동됨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743C0-36B5-63E9-8ED0-4B8F98D34575}"/>
              </a:ext>
            </a:extLst>
          </p:cNvPr>
          <p:cNvSpPr txBox="1"/>
          <p:nvPr/>
        </p:nvSpPr>
        <p:spPr>
          <a:xfrm>
            <a:off x="-98937" y="13598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①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069E60A-03F6-2433-B201-6C4F50E1C804}"/>
              </a:ext>
            </a:extLst>
          </p:cNvPr>
          <p:cNvCxnSpPr/>
          <p:nvPr/>
        </p:nvCxnSpPr>
        <p:spPr>
          <a:xfrm>
            <a:off x="175491" y="1625597"/>
            <a:ext cx="166254" cy="1385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A79AD02-6F2A-42F8-3E6E-913F9E0F3FB6}"/>
              </a:ext>
            </a:extLst>
          </p:cNvPr>
          <p:cNvSpPr txBox="1"/>
          <p:nvPr/>
        </p:nvSpPr>
        <p:spPr>
          <a:xfrm>
            <a:off x="7950554" y="266681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②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7828ED8-0255-0327-D566-ACC6F3B1CE1B}"/>
              </a:ext>
            </a:extLst>
          </p:cNvPr>
          <p:cNvCxnSpPr>
            <a:cxnSpLocks/>
          </p:cNvCxnSpPr>
          <p:nvPr/>
        </p:nvCxnSpPr>
        <p:spPr>
          <a:xfrm flipV="1">
            <a:off x="8158303" y="2537283"/>
            <a:ext cx="89770" cy="242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32CE03-63C0-5BE2-0F6E-6F182E1D9552}"/>
              </a:ext>
            </a:extLst>
          </p:cNvPr>
          <p:cNvSpPr/>
          <p:nvPr/>
        </p:nvSpPr>
        <p:spPr>
          <a:xfrm>
            <a:off x="6908801" y="1551709"/>
            <a:ext cx="168354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835913-799B-31D5-9B8C-AA1A1CF45F68}"/>
              </a:ext>
            </a:extLst>
          </p:cNvPr>
          <p:cNvSpPr txBox="1"/>
          <p:nvPr/>
        </p:nvSpPr>
        <p:spPr>
          <a:xfrm>
            <a:off x="6612475" y="12996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5389F2-0B29-B836-8D2C-BC94857D7D3A}"/>
              </a:ext>
            </a:extLst>
          </p:cNvPr>
          <p:cNvSpPr txBox="1"/>
          <p:nvPr/>
        </p:nvSpPr>
        <p:spPr>
          <a:xfrm>
            <a:off x="1161826" y="13347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Malgun Gothic" panose="020B0503020000020004" pitchFamily="50" charset="-127"/>
              </a:rPr>
              <a:t>④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1EC9A5B-EE62-BAE0-EE04-73F2FBE198C4}"/>
              </a:ext>
            </a:extLst>
          </p:cNvPr>
          <p:cNvCxnSpPr>
            <a:cxnSpLocks/>
          </p:cNvCxnSpPr>
          <p:nvPr/>
        </p:nvCxnSpPr>
        <p:spPr>
          <a:xfrm flipH="1">
            <a:off x="1145879" y="1607125"/>
            <a:ext cx="161634" cy="1990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94F3A7E-9AC1-38F2-CFD4-B99DF940CC66}"/>
              </a:ext>
            </a:extLst>
          </p:cNvPr>
          <p:cNvSpPr/>
          <p:nvPr/>
        </p:nvSpPr>
        <p:spPr>
          <a:xfrm>
            <a:off x="3223493" y="1921041"/>
            <a:ext cx="810205" cy="745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80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375566-29CD-B14E-C80A-76D4A37351BD}"/>
              </a:ext>
            </a:extLst>
          </p:cNvPr>
          <p:cNvSpPr txBox="1"/>
          <p:nvPr/>
        </p:nvSpPr>
        <p:spPr>
          <a:xfrm>
            <a:off x="381000" y="254000"/>
            <a:ext cx="1143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600" b="1">
                <a:latin typeface="Malgun Gothic" panose="020B0503020000020004" pitchFamily="50" charset="-127"/>
              </a:rPr>
              <a:t>Job Request Form</a:t>
            </a:r>
            <a:endParaRPr lang="ko-KR" altLang="en-US" sz="2600" b="1"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D92D3-D246-62A4-4EDF-FFC14B0B9CCC}"/>
              </a:ext>
            </a:extLst>
          </p:cNvPr>
          <p:cNvSpPr txBox="1"/>
          <p:nvPr/>
        </p:nvSpPr>
        <p:spPr>
          <a:xfrm>
            <a:off x="8636000" y="1270000"/>
            <a:ext cx="3048000" cy="233910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ko-KR" altLang="en-US" dirty="0">
                <a:latin typeface="Malgun Gothic" panose="020B0503020000020004" pitchFamily="50" charset="-127"/>
              </a:rPr>
              <a:t>신규 의뢰 추가 화면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의뢰 관련 정보를 입력하고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등록버튼을 누르면 저장됨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의뢰날짜는 숫자를 타이핑하면 </a:t>
            </a:r>
            <a:r>
              <a:rPr lang="en-US" altLang="ko-KR" dirty="0" err="1">
                <a:latin typeface="Malgun Gothic" panose="020B0503020000020004" pitchFamily="50" charset="-127"/>
              </a:rPr>
              <a:t>YYYY</a:t>
            </a:r>
            <a:r>
              <a:rPr lang="en-US" altLang="ko-KR" dirty="0">
                <a:latin typeface="Malgun Gothic" panose="020B0503020000020004" pitchFamily="50" charset="-127"/>
              </a:rPr>
              <a:t>-MM-DD </a:t>
            </a:r>
            <a:r>
              <a:rPr lang="ko-KR" altLang="en-US" dirty="0">
                <a:latin typeface="Malgun Gothic" panose="020B0503020000020004" pitchFamily="50" charset="-127"/>
              </a:rPr>
              <a:t>로 </a:t>
            </a:r>
            <a:r>
              <a:rPr lang="ko-KR" altLang="en-US" dirty="0" err="1">
                <a:latin typeface="Malgun Gothic" panose="020B0503020000020004" pitchFamily="50" charset="-127"/>
              </a:rPr>
              <a:t>포맷팅됨</a:t>
            </a:r>
            <a:r>
              <a:rPr lang="en-US" altLang="ko-KR" dirty="0">
                <a:latin typeface="Malgun Gothic" panose="020B0503020000020004" pitchFamily="50" charset="-127"/>
              </a:rPr>
              <a:t>. </a:t>
            </a:r>
            <a:r>
              <a:rPr lang="ko-KR" altLang="en-US" dirty="0">
                <a:latin typeface="Malgun Gothic" panose="020B0503020000020004" pitchFamily="50" charset="-127"/>
              </a:rPr>
              <a:t>하이픈 문자 불필요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3D254E-0BF0-3489-B30E-D8C6787FC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127"/>
            <a:ext cx="8571345" cy="505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5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CA99A2-20BC-8674-DA07-548333AD4D63}"/>
              </a:ext>
            </a:extLst>
          </p:cNvPr>
          <p:cNvSpPr txBox="1"/>
          <p:nvPr/>
        </p:nvSpPr>
        <p:spPr>
          <a:xfrm>
            <a:off x="381000" y="254000"/>
            <a:ext cx="1143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600" b="1">
                <a:latin typeface="Malgun Gothic" panose="020B0503020000020004" pitchFamily="50" charset="-127"/>
              </a:rPr>
              <a:t>CCS Quotes List</a:t>
            </a:r>
            <a:endParaRPr lang="ko-KR" altLang="en-US" sz="2600" b="1"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5588F-67D3-1922-A902-4049D88C79FD}"/>
              </a:ext>
            </a:extLst>
          </p:cNvPr>
          <p:cNvSpPr txBox="1"/>
          <p:nvPr/>
        </p:nvSpPr>
        <p:spPr>
          <a:xfrm>
            <a:off x="8635999" y="1270000"/>
            <a:ext cx="3620655" cy="261610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ko-KR" altLang="en-US" dirty="0">
                <a:latin typeface="Malgun Gothic" panose="020B0503020000020004" pitchFamily="50" charset="-127"/>
              </a:rPr>
              <a:t>고객의뢰에서 파생되어 나온 견적 정보 관리 화면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사용법은 고객의뢰 화면과 상동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CCS</a:t>
            </a:r>
            <a:r>
              <a:rPr lang="ko-KR" altLang="en-US" dirty="0">
                <a:latin typeface="Malgun Gothic" panose="020B0503020000020004" pitchFamily="50" charset="-127"/>
              </a:rPr>
              <a:t>견적번호를 누르면 </a:t>
            </a:r>
            <a:r>
              <a:rPr lang="en-US" altLang="ko-KR" dirty="0">
                <a:latin typeface="Malgun Gothic" panose="020B0503020000020004" pitchFamily="50" charset="-127"/>
              </a:rPr>
              <a:t>CCS</a:t>
            </a:r>
            <a:r>
              <a:rPr lang="ko-KR" altLang="en-US" dirty="0">
                <a:latin typeface="Malgun Gothic" panose="020B0503020000020004" pitchFamily="50" charset="-127"/>
              </a:rPr>
              <a:t>견적에 포함된 견적부품 정보화면으로 이동됨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62B3D9-6CE4-BC40-D0A7-D9B8A45A7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3494"/>
            <a:ext cx="8636000" cy="521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07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23DDF5-5B63-C42E-430E-99F3F1B6C2F1}"/>
              </a:ext>
            </a:extLst>
          </p:cNvPr>
          <p:cNvSpPr txBox="1"/>
          <p:nvPr/>
        </p:nvSpPr>
        <p:spPr>
          <a:xfrm>
            <a:off x="381000" y="254000"/>
            <a:ext cx="1143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600" b="1">
                <a:latin typeface="Malgun Gothic" panose="020B0503020000020004" pitchFamily="50" charset="-127"/>
              </a:rPr>
              <a:t>CCS Quote Form</a:t>
            </a:r>
            <a:endParaRPr lang="ko-KR" altLang="en-US" sz="2600" b="1"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287CD-6B97-210C-D22D-79755D4B494C}"/>
              </a:ext>
            </a:extLst>
          </p:cNvPr>
          <p:cNvSpPr txBox="1"/>
          <p:nvPr/>
        </p:nvSpPr>
        <p:spPr>
          <a:xfrm>
            <a:off x="8636000" y="1270000"/>
            <a:ext cx="3048000" cy="48936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ko-KR" altLang="en-US" dirty="0">
                <a:latin typeface="Malgun Gothic" panose="020B0503020000020004" pitchFamily="50" charset="-127"/>
              </a:rPr>
              <a:t>새 견적 추가 화면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신규 의뢰 추가 화면과 사용법은 동일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 err="1">
                <a:latin typeface="Malgun Gothic" panose="020B0503020000020004" pitchFamily="50" charset="-127"/>
              </a:rPr>
              <a:t>상태값만</a:t>
            </a:r>
            <a:r>
              <a:rPr lang="ko-KR" altLang="en-US" dirty="0">
                <a:latin typeface="Malgun Gothic" panose="020B0503020000020004" pitchFamily="50" charset="-127"/>
              </a:rPr>
              <a:t> 추가됨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 err="1">
                <a:latin typeface="Malgun Gothic" panose="020B0503020000020004" pitchFamily="50" charset="-127"/>
              </a:rPr>
              <a:t>상태값</a:t>
            </a:r>
            <a:r>
              <a:rPr lang="ko-KR" altLang="en-US" dirty="0">
                <a:latin typeface="Malgun Gothic" panose="020B0503020000020004" pitchFamily="50" charset="-127"/>
              </a:rPr>
              <a:t> 종류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-</a:t>
            </a:r>
            <a:r>
              <a:rPr lang="ko-KR" altLang="en-US" dirty="0" err="1">
                <a:latin typeface="Malgun Gothic" panose="020B0503020000020004" pitchFamily="50" charset="-127"/>
              </a:rPr>
              <a:t>견적중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-</a:t>
            </a:r>
            <a:r>
              <a:rPr lang="ko-KR" altLang="en-US" dirty="0" err="1">
                <a:latin typeface="Malgun Gothic" panose="020B0503020000020004" pitchFamily="50" charset="-127"/>
              </a:rPr>
              <a:t>재견적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-</a:t>
            </a:r>
            <a:r>
              <a:rPr lang="ko-KR" altLang="en-US" dirty="0" err="1">
                <a:latin typeface="Malgun Gothic" panose="020B0503020000020004" pitchFamily="50" charset="-127"/>
              </a:rPr>
              <a:t>견적재출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-</a:t>
            </a:r>
            <a:r>
              <a:rPr lang="ko-KR" altLang="en-US" dirty="0" err="1">
                <a:latin typeface="Malgun Gothic" panose="020B0503020000020004" pitchFamily="50" charset="-127"/>
              </a:rPr>
              <a:t>발주전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-</a:t>
            </a:r>
            <a:r>
              <a:rPr lang="ko-KR" altLang="en-US" dirty="0">
                <a:latin typeface="Malgun Gothic" panose="020B0503020000020004" pitchFamily="50" charset="-127"/>
              </a:rPr>
              <a:t>납품예정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-</a:t>
            </a:r>
            <a:r>
              <a:rPr lang="ko-KR" altLang="en-US" dirty="0">
                <a:latin typeface="Malgun Gothic" panose="020B0503020000020004" pitchFamily="50" charset="-127"/>
              </a:rPr>
              <a:t>납품완료</a:t>
            </a:r>
            <a:endParaRPr lang="en-US" altLang="ko-KR" dirty="0">
              <a:latin typeface="Malgun Gothic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0FF4EA-DE60-8ED4-F50F-F039BEE24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2255"/>
            <a:ext cx="8414327" cy="514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9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E37FB2-B0E2-B778-436E-1C26CD9A2002}"/>
              </a:ext>
            </a:extLst>
          </p:cNvPr>
          <p:cNvSpPr txBox="1"/>
          <p:nvPr/>
        </p:nvSpPr>
        <p:spPr>
          <a:xfrm>
            <a:off x="381000" y="254000"/>
            <a:ext cx="1143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600" b="1">
                <a:latin typeface="Malgun Gothic" panose="020B0503020000020004" pitchFamily="50" charset="-127"/>
              </a:rPr>
              <a:t>Quote Parts List</a:t>
            </a:r>
            <a:endParaRPr lang="ko-KR" altLang="en-US" sz="2600" b="1"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7E764-8F22-89E0-F029-66B7D5E3B7A4}"/>
              </a:ext>
            </a:extLst>
          </p:cNvPr>
          <p:cNvSpPr txBox="1"/>
          <p:nvPr/>
        </p:nvSpPr>
        <p:spPr>
          <a:xfrm>
            <a:off x="8636000" y="1269999"/>
            <a:ext cx="304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ko-KR" altLang="en-US" dirty="0">
                <a:latin typeface="Malgun Gothic" panose="020B0503020000020004" pitchFamily="50" charset="-127"/>
              </a:rPr>
              <a:t>견적부품관리 화면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사용법은 타 화면과 동일</a:t>
            </a:r>
            <a:r>
              <a:rPr lang="en-US" altLang="ko-KR" dirty="0">
                <a:latin typeface="Malgun Gothic" panose="020B0503020000020004" pitchFamily="50" charset="-127"/>
              </a:rPr>
              <a:t>,</a:t>
            </a:r>
          </a:p>
          <a:p>
            <a:pPr>
              <a:spcAft>
                <a:spcPts val="600"/>
              </a:spcAft>
            </a:pPr>
            <a:endParaRPr lang="ko-KR" altLang="en-US" dirty="0">
              <a:latin typeface="Malgun Gothic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5095C2-B3A6-342E-74A4-7DC069640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999"/>
            <a:ext cx="8636000" cy="5048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24C4CB-B711-2EA1-E94B-01D5200EBD3A}"/>
              </a:ext>
            </a:extLst>
          </p:cNvPr>
          <p:cNvSpPr txBox="1"/>
          <p:nvPr/>
        </p:nvSpPr>
        <p:spPr>
          <a:xfrm>
            <a:off x="1851890" y="5144653"/>
            <a:ext cx="9959109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000" dirty="0">
                <a:latin typeface="Malgun Gothic" panose="020B0503020000020004" pitchFamily="50" charset="-127"/>
              </a:rPr>
              <a:t>모든 가격은 </a:t>
            </a:r>
            <a:r>
              <a:rPr lang="en-US" altLang="ko-KR" sz="1000" dirty="0" err="1">
                <a:latin typeface="Malgun Gothic" panose="020B0503020000020004" pitchFamily="50" charset="-127"/>
              </a:rPr>
              <a:t>Uniprice</a:t>
            </a:r>
            <a:r>
              <a:rPr lang="en-US" altLang="ko-KR" sz="1000" dirty="0">
                <a:latin typeface="Malgun Gothic" panose="020B0503020000020004" pitchFamily="50" charset="-127"/>
              </a:rPr>
              <a:t>(BRT) </a:t>
            </a:r>
            <a:r>
              <a:rPr lang="ko-KR" altLang="en-US" sz="1000" dirty="0">
                <a:latin typeface="Malgun Gothic" panose="020B0503020000020004" pitchFamily="50" charset="-127"/>
              </a:rPr>
              <a:t>기준으로 계산 됨</a:t>
            </a:r>
            <a:r>
              <a:rPr lang="en-US" altLang="ko-KR" sz="1000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1000" dirty="0">
                <a:latin typeface="Malgun Gothic" panose="020B0503020000020004" pitchFamily="50" charset="-127"/>
              </a:rPr>
              <a:t>2</a:t>
            </a:r>
            <a:r>
              <a:rPr lang="ko-KR" altLang="en-US" sz="1000" dirty="0">
                <a:latin typeface="Malgun Gothic" panose="020B0503020000020004" pitchFamily="50" charset="-127"/>
              </a:rPr>
              <a:t>차 인터뷰대로 구현함</a:t>
            </a:r>
            <a:r>
              <a:rPr lang="en-US" altLang="ko-KR" sz="1000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1000" dirty="0" err="1">
                <a:latin typeface="Malgun Gothic" panose="020B0503020000020004" pitchFamily="50" charset="-127"/>
              </a:rPr>
              <a:t>Unitprice</a:t>
            </a:r>
            <a:r>
              <a:rPr lang="en-US" altLang="ko-KR" sz="1000" dirty="0">
                <a:latin typeface="Malgun Gothic" panose="020B0503020000020004" pitchFamily="50" charset="-127"/>
              </a:rPr>
              <a:t>(</a:t>
            </a:r>
            <a:r>
              <a:rPr lang="en-US" altLang="ko-KR" sz="1000" dirty="0" err="1">
                <a:latin typeface="Malgun Gothic" panose="020B0503020000020004" pitchFamily="50" charset="-127"/>
              </a:rPr>
              <a:t>HMX</a:t>
            </a:r>
            <a:r>
              <a:rPr lang="en-US" altLang="ko-KR" sz="1000" dirty="0">
                <a:latin typeface="Malgun Gothic" panose="020B0503020000020004" pitchFamily="50" charset="-127"/>
              </a:rPr>
              <a:t>) </a:t>
            </a:r>
            <a:r>
              <a:rPr lang="ko-KR" altLang="en-US" sz="1000" dirty="0">
                <a:latin typeface="Malgun Gothic" panose="020B0503020000020004" pitchFamily="50" charset="-127"/>
              </a:rPr>
              <a:t>는 </a:t>
            </a:r>
            <a:r>
              <a:rPr lang="en-US" altLang="ko-KR" sz="1000" dirty="0" err="1">
                <a:latin typeface="Malgun Gothic" panose="020B0503020000020004" pitchFamily="50" charset="-127"/>
              </a:rPr>
              <a:t>Uniprice</a:t>
            </a:r>
            <a:r>
              <a:rPr lang="en-US" altLang="ko-KR" sz="1000" dirty="0">
                <a:latin typeface="Malgun Gothic" panose="020B0503020000020004" pitchFamily="50" charset="-127"/>
              </a:rPr>
              <a:t>(BRT) x 1.65, </a:t>
            </a:r>
            <a:r>
              <a:rPr lang="ko-KR" altLang="en-US" sz="1000" dirty="0">
                <a:latin typeface="Malgun Gothic" panose="020B0503020000020004" pitchFamily="50" charset="-127"/>
              </a:rPr>
              <a:t>비용</a:t>
            </a:r>
            <a:r>
              <a:rPr lang="en-US" altLang="ko-KR" sz="1000" dirty="0">
                <a:latin typeface="Malgun Gothic" panose="020B0503020000020004" pitchFamily="50" charset="-127"/>
              </a:rPr>
              <a:t>/</a:t>
            </a:r>
            <a:r>
              <a:rPr lang="ko-KR" altLang="en-US" sz="1000" dirty="0">
                <a:latin typeface="Malgun Gothic" panose="020B0503020000020004" pitchFamily="50" charset="-127"/>
              </a:rPr>
              <a:t>마진과 환율은 환율</a:t>
            </a:r>
            <a:r>
              <a:rPr lang="en-US" altLang="ko-KR" sz="1000" dirty="0">
                <a:latin typeface="Malgun Gothic" panose="020B0503020000020004" pitchFamily="50" charset="-127"/>
              </a:rPr>
              <a:t>/</a:t>
            </a:r>
            <a:r>
              <a:rPr lang="ko-KR" altLang="en-US" sz="1000" dirty="0">
                <a:latin typeface="Malgun Gothic" panose="020B0503020000020004" pitchFamily="50" charset="-127"/>
              </a:rPr>
              <a:t>제비용관리화면에서 조정 가능</a:t>
            </a:r>
            <a:r>
              <a:rPr lang="en-US" altLang="ko-KR" sz="1000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000" dirty="0">
                <a:latin typeface="Malgun Gothic" panose="020B0503020000020004" pitchFamily="50" charset="-127"/>
              </a:rPr>
              <a:t>현재는 </a:t>
            </a:r>
            <a:r>
              <a:rPr lang="en-US" altLang="ko-KR" sz="1000" dirty="0">
                <a:latin typeface="Malgun Gothic" panose="020B0503020000020004" pitchFamily="50" charset="-127"/>
              </a:rPr>
              <a:t>BRT 1.13 </a:t>
            </a:r>
            <a:r>
              <a:rPr lang="ko-KR" altLang="en-US" sz="1000" dirty="0">
                <a:latin typeface="Malgun Gothic" panose="020B0503020000020004" pitchFamily="50" charset="-127"/>
              </a:rPr>
              <a:t>환율 </a:t>
            </a:r>
            <a:r>
              <a:rPr lang="en-US" altLang="ko-KR" sz="1000" dirty="0">
                <a:latin typeface="Malgun Gothic" panose="020B0503020000020004" pitchFamily="50" charset="-127"/>
              </a:rPr>
              <a:t>11, </a:t>
            </a:r>
            <a:r>
              <a:rPr lang="en-US" altLang="ko-KR" sz="1000" dirty="0" err="1">
                <a:latin typeface="Malgun Gothic" panose="020B0503020000020004" pitchFamily="50" charset="-127"/>
              </a:rPr>
              <a:t>HMX</a:t>
            </a:r>
            <a:r>
              <a:rPr lang="ko-KR" altLang="en-US" sz="1000" dirty="0">
                <a:latin typeface="Malgun Gothic" panose="020B0503020000020004" pitchFamily="50" charset="-127"/>
              </a:rPr>
              <a:t>는 마진 </a:t>
            </a:r>
            <a:r>
              <a:rPr lang="en-US" altLang="ko-KR" sz="1000" dirty="0">
                <a:latin typeface="Malgun Gothic" panose="020B0503020000020004" pitchFamily="50" charset="-127"/>
              </a:rPr>
              <a:t>0.65 </a:t>
            </a:r>
            <a:r>
              <a:rPr lang="ko-KR" altLang="en-US" sz="1000" dirty="0">
                <a:latin typeface="Malgun Gothic" panose="020B0503020000020004" pitchFamily="50" charset="-127"/>
              </a:rPr>
              <a:t>환율 </a:t>
            </a:r>
            <a:r>
              <a:rPr lang="en-US" altLang="ko-KR" sz="1000" dirty="0">
                <a:latin typeface="Malgun Gothic" panose="020B0503020000020004" pitchFamily="50" charset="-127"/>
              </a:rPr>
              <a:t>13</a:t>
            </a:r>
            <a:r>
              <a:rPr lang="ko-KR" altLang="en-US" sz="1000" dirty="0">
                <a:latin typeface="Malgun Gothic" panose="020B0503020000020004" pitchFamily="50" charset="-127"/>
              </a:rPr>
              <a:t>으로 </a:t>
            </a:r>
            <a:r>
              <a:rPr lang="ko-KR" altLang="en-US" sz="1000" dirty="0" err="1">
                <a:latin typeface="Malgun Gothic" panose="020B0503020000020004" pitchFamily="50" charset="-127"/>
              </a:rPr>
              <a:t>잡혀있음</a:t>
            </a:r>
            <a:r>
              <a:rPr lang="en-US" altLang="ko-KR" sz="1000" dirty="0"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1000" dirty="0" err="1">
                <a:latin typeface="Malgun Gothic" panose="020B0503020000020004" pitchFamily="50" charset="-127"/>
              </a:rPr>
              <a:t>Unitprice</a:t>
            </a:r>
            <a:r>
              <a:rPr lang="en-US" altLang="ko-KR" sz="1000" dirty="0">
                <a:latin typeface="Malgun Gothic" panose="020B0503020000020004" pitchFamily="50" charset="-127"/>
              </a:rPr>
              <a:t>(</a:t>
            </a:r>
            <a:r>
              <a:rPr lang="ko-KR" altLang="en-US" sz="1000" dirty="0">
                <a:latin typeface="Malgun Gothic" panose="020B0503020000020004" pitchFamily="50" charset="-127"/>
              </a:rPr>
              <a:t>마진</a:t>
            </a:r>
            <a:r>
              <a:rPr lang="en-US" altLang="ko-KR" sz="1000" dirty="0">
                <a:latin typeface="Malgun Gothic" panose="020B0503020000020004" pitchFamily="50" charset="-127"/>
              </a:rPr>
              <a:t>) </a:t>
            </a:r>
            <a:r>
              <a:rPr lang="ko-KR" altLang="en-US" sz="1000" dirty="0">
                <a:latin typeface="Malgun Gothic" panose="020B0503020000020004" pitchFamily="50" charset="-127"/>
              </a:rPr>
              <a:t>계산법</a:t>
            </a:r>
            <a:endParaRPr lang="en-US" altLang="ko-KR" sz="1000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1000" dirty="0">
                <a:latin typeface="Malgun Gothic" panose="020B0503020000020004" pitchFamily="50" charset="-127"/>
              </a:rPr>
              <a:t>BRT</a:t>
            </a:r>
            <a:r>
              <a:rPr lang="ko-KR" altLang="en-US" sz="1000" dirty="0">
                <a:latin typeface="Malgun Gothic" panose="020B0503020000020004" pitchFamily="50" charset="-127"/>
              </a:rPr>
              <a:t>는 </a:t>
            </a:r>
            <a:r>
              <a:rPr lang="en-US" altLang="ko-KR" sz="1000" dirty="0" err="1">
                <a:latin typeface="Malgun Gothic" panose="020B0503020000020004" pitchFamily="50" charset="-127"/>
              </a:rPr>
              <a:t>Uniprice</a:t>
            </a:r>
            <a:r>
              <a:rPr lang="en-US" altLang="ko-KR" sz="1000" dirty="0">
                <a:latin typeface="Malgun Gothic" panose="020B0503020000020004" pitchFamily="50" charset="-127"/>
              </a:rPr>
              <a:t>(BRT) x </a:t>
            </a:r>
            <a:r>
              <a:rPr lang="ko-KR" altLang="en-US" sz="1000" dirty="0">
                <a:latin typeface="Malgun Gothic" panose="020B0503020000020004" pitchFamily="50" charset="-127"/>
              </a:rPr>
              <a:t>비용</a:t>
            </a:r>
            <a:r>
              <a:rPr lang="en-US" altLang="ko-KR" sz="1000" dirty="0">
                <a:latin typeface="Malgun Gothic" panose="020B0503020000020004" pitchFamily="50" charset="-127"/>
              </a:rPr>
              <a:t>(1.13)</a:t>
            </a:r>
            <a:r>
              <a:rPr lang="ko-KR" altLang="en-US" sz="1000" dirty="0">
                <a:latin typeface="Malgun Gothic" panose="020B0503020000020004" pitchFamily="50" charset="-127"/>
              </a:rPr>
              <a:t> </a:t>
            </a:r>
            <a:r>
              <a:rPr lang="en-US" altLang="ko-KR" sz="1000" dirty="0">
                <a:latin typeface="Malgun Gothic" panose="020B0503020000020004" pitchFamily="50" charset="-127"/>
              </a:rPr>
              <a:t>x</a:t>
            </a:r>
            <a:r>
              <a:rPr lang="ko-KR" altLang="en-US" sz="1000" dirty="0">
                <a:latin typeface="Malgun Gothic" panose="020B0503020000020004" pitchFamily="50" charset="-127"/>
              </a:rPr>
              <a:t> 환율</a:t>
            </a:r>
            <a:r>
              <a:rPr lang="en-US" altLang="ko-KR" sz="1000" dirty="0">
                <a:latin typeface="Malgun Gothic" panose="020B0503020000020004" pitchFamily="50" charset="-127"/>
              </a:rPr>
              <a:t>(11)</a:t>
            </a:r>
          </a:p>
          <a:p>
            <a:pPr>
              <a:spcAft>
                <a:spcPts val="600"/>
              </a:spcAft>
            </a:pPr>
            <a:r>
              <a:rPr lang="en-US" altLang="ko-KR" sz="1000" dirty="0" err="1">
                <a:latin typeface="Malgun Gothic" panose="020B0503020000020004" pitchFamily="50" charset="-127"/>
              </a:rPr>
              <a:t>HMX</a:t>
            </a:r>
            <a:r>
              <a:rPr lang="ko-KR" altLang="en-US" sz="1000" dirty="0">
                <a:latin typeface="Malgun Gothic" panose="020B0503020000020004" pitchFamily="50" charset="-127"/>
              </a:rPr>
              <a:t>는 </a:t>
            </a:r>
            <a:r>
              <a:rPr lang="en-US" altLang="ko-KR" sz="1000" dirty="0" err="1">
                <a:latin typeface="Malgun Gothic" panose="020B0503020000020004" pitchFamily="50" charset="-127"/>
              </a:rPr>
              <a:t>Uniprice</a:t>
            </a:r>
            <a:r>
              <a:rPr lang="en-US" altLang="ko-KR" sz="1000" dirty="0">
                <a:latin typeface="Malgun Gothic" panose="020B0503020000020004" pitchFamily="50" charset="-127"/>
              </a:rPr>
              <a:t>(BRT) / 0.65(</a:t>
            </a:r>
            <a:r>
              <a:rPr lang="ko-KR" altLang="en-US" sz="1000" dirty="0">
                <a:latin typeface="Malgun Gothic" panose="020B0503020000020004" pitchFamily="50" charset="-127"/>
              </a:rPr>
              <a:t>마진</a:t>
            </a:r>
            <a:r>
              <a:rPr lang="en-US" altLang="ko-KR" sz="1000" dirty="0">
                <a:latin typeface="Malgun Gothic" panose="020B0503020000020004" pitchFamily="50" charset="-127"/>
              </a:rPr>
              <a:t>) x </a:t>
            </a:r>
            <a:r>
              <a:rPr lang="ko-KR" altLang="en-US" sz="1000" dirty="0">
                <a:latin typeface="Malgun Gothic" panose="020B0503020000020004" pitchFamily="50" charset="-127"/>
              </a:rPr>
              <a:t>환율</a:t>
            </a:r>
            <a:r>
              <a:rPr lang="en-US" altLang="ko-KR" sz="1000" dirty="0">
                <a:latin typeface="Malgun Gothic" panose="020B0503020000020004" pitchFamily="50" charset="-127"/>
              </a:rPr>
              <a:t>(13)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C9185E-A00D-A72D-1F53-E913D8A8B228}"/>
              </a:ext>
            </a:extLst>
          </p:cNvPr>
          <p:cNvSpPr/>
          <p:nvPr/>
        </p:nvSpPr>
        <p:spPr>
          <a:xfrm>
            <a:off x="4553527" y="2170545"/>
            <a:ext cx="3777673" cy="86821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135A469-DBCB-A6BA-9459-CB4BF9955B85}"/>
              </a:ext>
            </a:extLst>
          </p:cNvPr>
          <p:cNvCxnSpPr/>
          <p:nvPr/>
        </p:nvCxnSpPr>
        <p:spPr>
          <a:xfrm flipH="1">
            <a:off x="1851890" y="2170545"/>
            <a:ext cx="2701637" cy="964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F503429-FA4B-D134-9CC4-48BEFEAFF1BF}"/>
              </a:ext>
            </a:extLst>
          </p:cNvPr>
          <p:cNvCxnSpPr>
            <a:cxnSpLocks/>
          </p:cNvCxnSpPr>
          <p:nvPr/>
        </p:nvCxnSpPr>
        <p:spPr>
          <a:xfrm>
            <a:off x="8331200" y="2170545"/>
            <a:ext cx="2075334" cy="9640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6E24481-9B79-9B6D-9E44-9E3FF8971F8D}"/>
              </a:ext>
            </a:extLst>
          </p:cNvPr>
          <p:cNvCxnSpPr>
            <a:cxnSpLocks/>
          </p:cNvCxnSpPr>
          <p:nvPr/>
        </p:nvCxnSpPr>
        <p:spPr>
          <a:xfrm>
            <a:off x="8331200" y="3038764"/>
            <a:ext cx="2075334" cy="21058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DB18091-28A3-9B92-2EE2-220BC5E9EC86}"/>
              </a:ext>
            </a:extLst>
          </p:cNvPr>
          <p:cNvCxnSpPr>
            <a:cxnSpLocks/>
          </p:cNvCxnSpPr>
          <p:nvPr/>
        </p:nvCxnSpPr>
        <p:spPr>
          <a:xfrm flipH="1">
            <a:off x="1851890" y="3038764"/>
            <a:ext cx="2701637" cy="21058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9A036EE3-05A6-6446-170C-8DF299250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890" y="3134597"/>
            <a:ext cx="8554644" cy="201005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6590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20240A-46D7-ABB7-6F9D-03F3DB800785}"/>
              </a:ext>
            </a:extLst>
          </p:cNvPr>
          <p:cNvSpPr txBox="1"/>
          <p:nvPr/>
        </p:nvSpPr>
        <p:spPr>
          <a:xfrm>
            <a:off x="381000" y="254000"/>
            <a:ext cx="1143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600" b="1">
                <a:latin typeface="Malgun Gothic" panose="020B0503020000020004" pitchFamily="50" charset="-127"/>
              </a:rPr>
              <a:t>Exchange And Cost List</a:t>
            </a:r>
            <a:endParaRPr lang="ko-KR" altLang="en-US" sz="2600" b="1"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FFC26-4391-081A-6B03-18FA1BEEFFED}"/>
              </a:ext>
            </a:extLst>
          </p:cNvPr>
          <p:cNvSpPr txBox="1"/>
          <p:nvPr/>
        </p:nvSpPr>
        <p:spPr>
          <a:xfrm>
            <a:off x="8636000" y="1270000"/>
            <a:ext cx="3814618" cy="24929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ko-KR" altLang="en-US" dirty="0">
                <a:latin typeface="Malgun Gothic" panose="020B0503020000020004" pitchFamily="50" charset="-127"/>
              </a:rPr>
              <a:t>환율 제비용 관리 화면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여기서 관리되는 매개변수 사용</a:t>
            </a:r>
            <a:r>
              <a:rPr lang="en-US" altLang="ko-KR" dirty="0">
                <a:latin typeface="Malgun Gothic" panose="020B0503020000020004" pitchFamily="50" charset="-127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US" altLang="ko-KR" dirty="0">
                <a:latin typeface="Malgun Gothic" panose="020B0503020000020004" pitchFamily="50" charset="-127"/>
              </a:rPr>
              <a:t>(</a:t>
            </a:r>
            <a:r>
              <a:rPr lang="ko-KR" altLang="en-US" dirty="0">
                <a:latin typeface="Malgun Gothic" panose="020B0503020000020004" pitchFamily="50" charset="-127"/>
              </a:rPr>
              <a:t>환율</a:t>
            </a:r>
            <a:r>
              <a:rPr lang="en-US" altLang="ko-KR" dirty="0">
                <a:latin typeface="Malgun Gothic" panose="020B0503020000020004" pitchFamily="50" charset="-127"/>
              </a:rPr>
              <a:t>, </a:t>
            </a:r>
            <a:r>
              <a:rPr lang="ko-KR" altLang="en-US" dirty="0" err="1">
                <a:latin typeface="Malgun Gothic" panose="020B0503020000020004" pitchFamily="50" charset="-127"/>
              </a:rPr>
              <a:t>마진값</a:t>
            </a:r>
            <a:r>
              <a:rPr lang="en-US" altLang="ko-KR" dirty="0">
                <a:latin typeface="Malgun Gothic" panose="020B0503020000020004" pitchFamily="50" charset="-127"/>
              </a:rPr>
              <a:t>, </a:t>
            </a:r>
            <a:r>
              <a:rPr lang="ko-KR" altLang="en-US" dirty="0" err="1">
                <a:latin typeface="Malgun Gothic" panose="020B0503020000020004" pitchFamily="50" charset="-127"/>
              </a:rPr>
              <a:t>운임및통관경비</a:t>
            </a:r>
            <a:r>
              <a:rPr lang="en-US" altLang="ko-KR" dirty="0">
                <a:latin typeface="Malgun Gothic" panose="020B0503020000020004" pitchFamily="50" charset="-127"/>
              </a:rPr>
              <a:t>)</a:t>
            </a:r>
          </a:p>
          <a:p>
            <a:pPr>
              <a:spcAft>
                <a:spcPts val="600"/>
              </a:spcAft>
            </a:pP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견적부품관리화면에서 </a:t>
            </a:r>
            <a:r>
              <a:rPr lang="ko-KR" altLang="en-US" dirty="0" err="1">
                <a:latin typeface="Malgun Gothic" panose="020B0503020000020004" pitchFamily="50" charset="-127"/>
              </a:rPr>
              <a:t>마진값이</a:t>
            </a:r>
            <a:endParaRPr lang="en-US" altLang="ko-KR" dirty="0">
              <a:latin typeface="Malgun Gothic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dirty="0">
                <a:latin typeface="Malgun Gothic" panose="020B0503020000020004" pitchFamily="50" charset="-127"/>
              </a:rPr>
              <a:t>계산됨</a:t>
            </a:r>
            <a:r>
              <a:rPr lang="en-US" altLang="ko-KR" dirty="0">
                <a:latin typeface="Malgun Gothic" panose="020B0503020000020004" pitchFamily="50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6F2D7F-0541-15E6-44B0-CCCF1A624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540"/>
            <a:ext cx="8636000" cy="47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507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301</Words>
  <Application>Microsoft Office PowerPoint</Application>
  <PresentationFormat>와이드스크린</PresentationFormat>
  <Paragraphs>68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맑은 고딕</vt:lpstr>
      <vt:lpstr>Arial</vt:lpstr>
      <vt:lpstr>Office 테마</vt:lpstr>
      <vt:lpstr>BARATEC User Screen Guide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821044300039</dc:creator>
  <cp:lastModifiedBy>821044300039</cp:lastModifiedBy>
  <cp:revision>3</cp:revision>
  <dcterms:created xsi:type="dcterms:W3CDTF">2026-07-05T14:46:19Z</dcterms:created>
  <dcterms:modified xsi:type="dcterms:W3CDTF">2026-07-05T15:30:19Z</dcterms:modified>
</cp:coreProperties>
</file>